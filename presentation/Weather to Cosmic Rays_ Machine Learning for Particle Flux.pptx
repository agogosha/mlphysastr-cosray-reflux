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be66b9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be66b9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be66b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dbe66b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7282ee9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7282ee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7282ee9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7282ee9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7282ee9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7282ee9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be66b92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be66b9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7282ee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7282ee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Scalar Data helps analyze </a:t>
            </a:r>
            <a:r>
              <a:rPr lang="en"/>
              <a:t>cosmic ray data on a larger level as opposed to individual particles, hence no particle phenomenology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7282ee9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7282ee9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a190285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a19028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 Regressor is meant to capture the linear relationship, while HistGradientBoost was meant to capture non-linear aspects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c51d3c9b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c51d3c9b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1fe63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abc1fe63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7282ee9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7282ee9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7282ee9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7282ee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dbe66b92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dbe66b92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1ef1c8d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1ef1c8d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1ef1c8d7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1ef1c8d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e1ef1c8d7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e1ef1c8d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gthink.com/starts-with-a-bang/astronomers-highest-energy-particles/" TargetMode="External"/><Relationship Id="rId4" Type="http://schemas.openxmlformats.org/officeDocument/2006/relationships/hyperlink" Target="https://news.uchicago.edu/explainer/what-are-cosmic-rays" TargetMode="External"/><Relationship Id="rId11" Type="http://schemas.openxmlformats.org/officeDocument/2006/relationships/hyperlink" Target="https://iopscience.iop.org/article/10.1088/1748-0221/6/01/P01003/pdf" TargetMode="External"/><Relationship Id="rId10" Type="http://schemas.openxmlformats.org/officeDocument/2006/relationships/hyperlink" Target="https://pos.sissa.it/358/1147/pdf" TargetMode="External"/><Relationship Id="rId9" Type="http://schemas.openxmlformats.org/officeDocument/2006/relationships/hyperlink" Target="https://zenodo.org/records/10488964" TargetMode="External"/><Relationship Id="rId5" Type="http://schemas.openxmlformats.org/officeDocument/2006/relationships/hyperlink" Target="https://www.auger.org/observatory/hybrid-detector" TargetMode="External"/><Relationship Id="rId6" Type="http://schemas.openxmlformats.org/officeDocument/2006/relationships/hyperlink" Target="https://inspirehep.net/files/1ef8bb507e47d8bc4ac3b456b7ff55ef" TargetMode="External"/><Relationship Id="rId7" Type="http://schemas.openxmlformats.org/officeDocument/2006/relationships/hyperlink" Target="https://proceedings.neurips.cc/paper_files/paper/2017/file/8a20a8621978632d76c43dfd28b67767-Paper.pdf" TargetMode="External"/><Relationship Id="rId8" Type="http://schemas.openxmlformats.org/officeDocument/2006/relationships/hyperlink" Target="https://github.com/shap/sha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Weather to Cosmic Rays: Machine Learning for Particle Flux</a:t>
            </a:r>
            <a:endParaRPr sz="36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Carter Chapman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Andrei Gogosha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2394300" y="303025"/>
            <a:ext cx="43554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Outline</a:t>
            </a:r>
            <a:endParaRPr sz="2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9400" y="3325600"/>
            <a:ext cx="2113800" cy="126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Introduction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Overview, Cosmic Rays, Pierre Auger Observatory</a:t>
            </a:r>
            <a:endParaRPr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385400" y="3325600"/>
            <a:ext cx="2113800" cy="126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Methods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SHAP Feature Importance, Data, Preprocessing, Weather, Model </a:t>
            </a:r>
            <a:endParaRPr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75188" y="3325600"/>
            <a:ext cx="2113800" cy="126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Model Performance and </a:t>
            </a: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SHAP Feature Importance</a:t>
            </a:r>
            <a:endParaRPr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964975" y="3325600"/>
            <a:ext cx="2113800" cy="126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Conclusion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Outlook, Future Improvements</a:t>
            </a:r>
            <a:endParaRPr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475" y="973275"/>
            <a:ext cx="5467050" cy="19122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6789000" y="4808025"/>
            <a:ext cx="38979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Figure 1: Particle Shower induced by Cosmic Ray [1] 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weather data from the Pierre Auger Observatory to predict cosmic ray count rates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Understanding this relationship helps pick experiment site location, understand variations in cosmic ray data, and protect sensitive equipment from cosmic ray exposure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SGDRegressor (linear), and a gradient boosted decision tree (non-linear)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Verify our physics based understanding by i</a:t>
            </a:r>
            <a:r>
              <a:rPr lang="en" sz="1500"/>
              <a:t>nvestigating feature importance with SHAP (SHapley Additive exPlanations)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Goal is to have a Mean Absolute Error &lt; 15 counts per second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Cosmic Rays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/>
              <a:t>Energetic particles from outer space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Can </a:t>
            </a:r>
            <a:r>
              <a:rPr lang="en" sz="1500"/>
              <a:t>originate from the Sun, black holes, supernovae, and outside our galaxy</a:t>
            </a:r>
            <a:r>
              <a:rPr lang="en"/>
              <a:t> 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500"/>
              <a:t>Interactions with the </a:t>
            </a:r>
            <a:r>
              <a:rPr lang="en" sz="1500"/>
              <a:t>atmosphere</a:t>
            </a:r>
            <a:r>
              <a:rPr lang="en" sz="1500"/>
              <a:t> create showers of secondary particles (air showers)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Secondary Showers are measured on the surface for insight into cosmic ray energy, however are subject to variations in the weather</a:t>
            </a:r>
            <a:endParaRPr sz="150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2" cy="23995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5274600" y="3569650"/>
            <a:ext cx="3166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 2: Particle Shower induced by Cosmic Ray [2]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Pierre Auger Observatory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429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Cosmic Ray observatory located in Argentina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1660 Water tank detectors are spread out over 3000 km^2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Detect particles on the </a:t>
            </a:r>
            <a:r>
              <a:rPr lang="en" sz="1500"/>
              <a:t>surface of the earth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Also have UV detectors that measure the brightness of UV light emitted from interactions in the atmosphere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Pierre Auger has five different weather stations taking measurements on pressure, density, temperature</a:t>
            </a:r>
            <a:endParaRPr sz="150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775" y="1017725"/>
            <a:ext cx="4236600" cy="287192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5475350" y="3889650"/>
            <a:ext cx="3166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 3: Water Detector at Pierre Auger [3]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Weather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39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Different atmospheric variables affect the characteristics of an air shower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not a huge factor, variables can induce biases in measurements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Pierre Auger already uses linear correction shown in eq 1, to account for variations in weather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Our goal is to use ML Models to recreate this relationship leveraging the fact that this </a:t>
            </a:r>
            <a:r>
              <a:rPr lang="en" sz="1500"/>
              <a:t>relationship exists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 </a:t>
            </a:r>
            <a:endParaRPr sz="1500"/>
          </a:p>
        </p:txBody>
      </p:sp>
      <p:pic>
        <p:nvPicPr>
          <p:cNvPr id="100" name="Google Shape;100;p18" title="Screenshot 2025-11-28 at 11.46.0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362" y="2837656"/>
            <a:ext cx="6893273" cy="6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1466400" y="3598525"/>
            <a:ext cx="6211200" cy="10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Equation 1: Correction from Pierre Auger to </a:t>
            </a:r>
            <a:r>
              <a:rPr lang="en" sz="1100">
                <a:solidFill>
                  <a:schemeClr val="dk2"/>
                </a:solidFill>
              </a:rPr>
              <a:t>adjust</a:t>
            </a:r>
            <a:r>
              <a:rPr lang="en" sz="1100">
                <a:solidFill>
                  <a:schemeClr val="dk2"/>
                </a:solidFill>
              </a:rPr>
              <a:t> for weather conditions. S(r_opt) is the detected signal, S_o is the expected signal, alpha and beta are coefficients, P_0 and p_o are the yearly averages for pressure and density, P and p_d are the measured pressure and density, and p_~ is the density two hours ago (to account for changes in density higher up in the atmosphere where the air shower began [4]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 (SHapley Additive exPlanations)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455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Method for interpreting machine-learning models by explaining how each feature contributes to a single prediction and to the model overall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Based on Shapley Game Theory, treats each feature as a player in a game and assigns each feature a share of responsibility in making a decision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Model Agnostic 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Allows us to directly see which features have the greatest impact on the final predicted cosmic ray flux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Greater model transparency and illustrates direct relationships between the prediction and feature values [5]</a:t>
            </a:r>
            <a:endParaRPr sz="1500"/>
          </a:p>
        </p:txBody>
      </p:sp>
      <p:pic>
        <p:nvPicPr>
          <p:cNvPr id="108" name="Google Shape;108;p19" title="shap_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425" y="1573275"/>
            <a:ext cx="3557400" cy="19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5475350" y="3889650"/>
            <a:ext cx="3166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 4: Water Detector at Pierre Auger [7]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is from the Pierre Auger Open-Release Scalar Data set [7]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Has 10% of all cosmic ray data, and 100% of all weather data collected from March 2005 to December 2020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Weather data used is a culmination of data collected at every station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Scalar mode counts the total number of hits across all 1660 detectors within a 1 second coincidence window and is uncorrected for weather effects and </a:t>
            </a:r>
            <a:r>
              <a:rPr lang="en" sz="1500"/>
              <a:t>operable</a:t>
            </a:r>
            <a:r>
              <a:rPr lang="en" sz="1500"/>
              <a:t> detectors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Scalar Data has been used to measure solar activity, and Forbush decreases [8]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-77850" y="1152475"/>
            <a:ext cx="4260300" cy="3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Scalar data has average particle count rates over 15 minute intervals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Atmospheric data has average data collected over 5 or 10 minute periods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Inspection of Data revealed high dependency on the year the data was taken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Dependency on year comes from changes in data-taking strategy [9]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Trained on Data taken post 2012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Trained models with year as a one hot encoded feature and without it</a:t>
            </a:r>
            <a:endParaRPr sz="15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525" y="1152475"/>
            <a:ext cx="4980475" cy="293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4624075" y="4143025"/>
            <a:ext cx="44367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Figure 4: Histogram of counts/s by year. Shows high variance between years when data was taken. Each year appears to </a:t>
            </a:r>
            <a:r>
              <a:rPr lang="en" sz="1100">
                <a:solidFill>
                  <a:schemeClr val="dk2"/>
                </a:solidFill>
              </a:rPr>
              <a:t>have its own gaussian distribution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9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SGDRegressor and </a:t>
            </a:r>
            <a:r>
              <a:rPr lang="en" sz="1500"/>
              <a:t>HistGradientBoosting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Performed Nested Cross Validation: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5 Fold Outer CV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3 Fold Inner CV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Grid Search for Hyper-parameter optimization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Goal: Minimize Mean Absolute Error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Trained two models, one with OneHotEncoder Year features, one without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SGDRegressor </a:t>
            </a:r>
            <a:r>
              <a:rPr lang="en"/>
              <a:t>Performance and Interpretability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Performance with time features: Nested CV MAE = </a:t>
            </a:r>
            <a:r>
              <a:rPr lang="en" sz="1500"/>
              <a:t>7.88</a:t>
            </a:r>
            <a:r>
              <a:rPr lang="en" sz="1500"/>
              <a:t> +/- </a:t>
            </a:r>
            <a:r>
              <a:rPr lang="en" sz="1500"/>
              <a:t>0.01</a:t>
            </a:r>
            <a:endParaRPr sz="1500"/>
          </a:p>
        </p:txBody>
      </p:sp>
      <p:pic>
        <p:nvPicPr>
          <p:cNvPr id="136" name="Google Shape;136;p23" title="pred_vs_act_onehot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75" y="2150075"/>
            <a:ext cx="2939149" cy="2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 title="shap_onehot_beeswa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7765" y="2150075"/>
            <a:ext cx="3129820" cy="2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 title="shap_onehot_ba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6224" y="2150075"/>
            <a:ext cx="2751552" cy="22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HistGradientBoostingRegressor </a:t>
            </a:r>
            <a:r>
              <a:rPr lang="en" sz="2320"/>
              <a:t>Performance and </a:t>
            </a:r>
            <a:r>
              <a:rPr lang="en" sz="2320"/>
              <a:t>Interpretability</a:t>
            </a:r>
            <a:endParaRPr sz="2320"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Performance without time features: Nested CV MAE = 6.59 +/- 0.02</a:t>
            </a:r>
            <a:endParaRPr sz="1500"/>
          </a:p>
        </p:txBody>
      </p:sp>
      <p:pic>
        <p:nvPicPr>
          <p:cNvPr id="145" name="Google Shape;145;p24" title="hgd_shap_onehot_beeswarm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7300" y="1849601"/>
            <a:ext cx="2854999" cy="202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 title="hgd_pred_vs_act_onehot_h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84019"/>
            <a:ext cx="2855000" cy="215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 title="shap_onehot_bar_hi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5629" y="1784025"/>
            <a:ext cx="2672741" cy="21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Results: 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HistGradient Boost outperformed SGDRegressor, much faster run time and lower MAE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Both models met out goal of MAE &lt; 15 counts per second with and without year data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Feature Importance confirmed pressure was the major player in decision making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Revealed year as an unexpected important player, </a:t>
            </a:r>
            <a:r>
              <a:rPr lang="en" sz="1500"/>
              <a:t>revealed</a:t>
            </a:r>
            <a:r>
              <a:rPr lang="en" sz="1500"/>
              <a:t> </a:t>
            </a:r>
            <a:r>
              <a:rPr lang="en" sz="1500"/>
              <a:t>inconsistencies</a:t>
            </a:r>
            <a:r>
              <a:rPr lang="en" sz="1500"/>
              <a:t> in data-taking that the model would have been unable to account for otherwise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Future: 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Investigate Weather dependence on particle </a:t>
            </a:r>
            <a:r>
              <a:rPr lang="en" sz="1500"/>
              <a:t>phenomenology (types of particles, energies, spatial distribution)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 Generalize model to work for different locations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astronomers-highest-energy-particles</a:t>
            </a:r>
            <a:r>
              <a:rPr lang="en" sz="1100"/>
              <a:t>(Picture on Presentation Outline Slide)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[2]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what-are-cosmic-rays</a:t>
            </a:r>
            <a:r>
              <a:rPr lang="en" sz="1100"/>
              <a:t> (Picture on Cosmic Ray Slide)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[3]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hybrid-detector</a:t>
            </a:r>
            <a:r>
              <a:rPr lang="en" sz="1100"/>
              <a:t> (Picture of Water Tank on Pierre Auger Slide)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[4]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1ef8bb507e47d8bc4ac3b456b7ff55ef</a:t>
            </a:r>
            <a:r>
              <a:rPr lang="en" sz="1100"/>
              <a:t>(Weather Correction Pierre Auger)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[5]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8a20a8621978632d76c43dfd28b67767-Paper.pdf</a:t>
            </a:r>
            <a:r>
              <a:rPr lang="en" sz="1100"/>
              <a:t>[SHAP Citation]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[6]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shap</a:t>
            </a:r>
            <a:r>
              <a:rPr lang="en" sz="1100"/>
              <a:t> (Shap Image and Github)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[7]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10488964</a:t>
            </a:r>
            <a:r>
              <a:rPr lang="en" sz="1100"/>
              <a:t>[Open-Data]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[8]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pdf</a:t>
            </a:r>
            <a:r>
              <a:rPr lang="en" sz="1100"/>
              <a:t> (Pierre Solar Activity Paper)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[9]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pdf</a:t>
            </a:r>
            <a:r>
              <a:rPr lang="en" sz="1100"/>
              <a:t>(Pierre Scalar Data Paper)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Questions? 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8" title="learning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900" y="426525"/>
            <a:ext cx="6581775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 title="GMM_Dou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951" y="500976"/>
            <a:ext cx="7268398" cy="400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 title="Double_Y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650" y="209200"/>
            <a:ext cx="6559375" cy="41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/>
          <p:nvPr/>
        </p:nvSpPr>
        <p:spPr>
          <a:xfrm>
            <a:off x="4407675" y="4140775"/>
            <a:ext cx="6636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